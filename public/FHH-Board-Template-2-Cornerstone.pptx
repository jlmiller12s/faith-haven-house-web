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Funding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6B4A"/>
              </a:solidFill>
              <a:effectLst/>
            </c:spPr>
          </c:dPt>
          <c:dPt>
            <c:idx val="1"/>
            <c:bubble3D val="0"/>
            <c:spPr>
              <a:solidFill>
                <a:srgbClr val="5C9EAD"/>
              </a:solidFill>
              <a:effectLst/>
            </c:spPr>
          </c:dPt>
          <c:dPt>
            <c:idx val="2"/>
            <c:bubble3D val="0"/>
            <c:spPr>
              <a:solidFill>
                <a:srgbClr val="B8D8E8"/>
              </a:solidFill>
              <a:effectLst/>
            </c:spPr>
          </c:dPt>
          <c:dPt>
            <c:idx val="3"/>
            <c:bubble3D val="0"/>
            <c:spPr>
              <a:solidFill>
                <a:srgbClr val="6C7A8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8F6F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8F6F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8F6F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8F6F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Individual Donations</c:v>
                </c:pt>
                <c:pt idx="1">
                  <c:v>Grants &amp; Foundations</c:v>
                </c:pt>
                <c:pt idx="2">
                  <c:v>Church Partners</c:v>
                </c:pt>
                <c:pt idx="3">
                  <c:v>Events &amp; 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8D8E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C34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7033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FHH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8F6F1"/>
          </a:solidFill>
          <a:ln/>
        </p:spPr>
      </p:sp>
      <p:pic>
        <p:nvPicPr>
          <p:cNvPr id="4" name="Image 0" descr="logo-s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98018"/>
            <a:ext cx="541325" cy="541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685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B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— TRANSITIONAL LIVING MINISTRY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spc="1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ANSWERED.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spc="100" kern="0" dirty="0">
                <a:solidFill>
                  <a:srgbClr val="C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BED FILLED.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66928" y="34290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4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unhoused men from transition to independent homeownership.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OF DIRECTORS  ·  [MONTH DD, YYYY]  ·  SAINT PETERS, 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4533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Update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6367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served, graduates, stories of restoration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2037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Performance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metrics vs. the 36-day housing goal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6304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843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Donations, grants, and operating costs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5584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040" y="3410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Network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447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coverage, meal train, mentor pairings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593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63040" y="40142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4050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required and next-quarter priorities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86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64008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0" b="1" dirty="0">
                <a:solidFill>
                  <a:srgbClr val="A9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DC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DIVIDER — DUPLICATE PER SECTION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spc="2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spc="2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PERSPECTIVE ON HOMELESSNESS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LIFE EVENT 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Homelessness among single men rarely happens overnight. Most of our residents are hardworking men who found themselves one crisis away — one illness, one job loss, one family tragedy — from losing their shelter.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county of 400,000 residents, Faith Haven House is the only shelter dedicated to single men.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6304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294C60"/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168249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C86B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427" y="1806123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Shelter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9788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county's only dedicated men's shelter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2542032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294C60"/>
          </a:solidFill>
          <a:ln/>
        </p:spPr>
      </p:sp>
      <p:sp>
        <p:nvSpPr>
          <p:cNvPr id="12" name="Shape 9"/>
          <p:cNvSpPr/>
          <p:nvPr/>
        </p:nvSpPr>
        <p:spPr>
          <a:xfrm>
            <a:off x="5257800" y="2761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C86B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427" y="2885115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97880" y="2679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Bridge, Not a Handout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897880" y="29535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Lodging plus the accountability to reach self-sufficiency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74920" y="3621024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294C60"/>
          </a:solidFill>
          <a:ln/>
        </p:spPr>
      </p:sp>
      <p:sp>
        <p:nvSpPr>
          <p:cNvPr id="17" name="Shape 13"/>
          <p:cNvSpPr/>
          <p:nvPr/>
        </p:nvSpPr>
        <p:spPr>
          <a:xfrm>
            <a:off x="5257800" y="38404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C86B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427" y="3964107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97880" y="37581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Care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897880" y="40325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guidance, coaching, and housing placement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MEASURABLE RECOVERY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TRANSITION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8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TO HOUSING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stay before securing employment and permanent housing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1600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33756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8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&amp; PRESENCE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daytime monitor coverage and hospitality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C9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12648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8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UNIFIED GOAL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364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4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resident guided to self-sufficient stable living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RECOVERY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5-STAGE REBUILDING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65860" y="2537460"/>
            <a:ext cx="7132320" cy="0"/>
          </a:xfrm>
          <a:prstGeom prst="line">
            <a:avLst/>
          </a:prstGeom>
          <a:noFill/>
          <a:ln w="38100">
            <a:solidFill>
              <a:srgbClr val="294C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&amp;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2148840"/>
            <a:ext cx="777240" cy="77724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57400" y="3154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Bed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Meal Train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777240" cy="77724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0" y="3154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777240" cy="777240"/>
          </a:xfrm>
          <a:prstGeom prst="ellipse">
            <a:avLst/>
          </a:prstGeom>
          <a:solidFill>
            <a:srgbClr val="294C6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23560" y="3154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Coaching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9560" y="2148840"/>
            <a:ext cx="777240" cy="777240"/>
          </a:xfrm>
          <a:prstGeom prst="ellipse">
            <a:avLst/>
          </a:prstGeom>
          <a:solidFill>
            <a:srgbClr val="C8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3154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4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pre-screen intake to homeownership — a structured, transparent timeline of care.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REPORT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&amp; STEWARDSHIP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554480"/>
            <a:ext cx="3886200" cy="841248"/>
          </a:xfrm>
          <a:prstGeom prst="roundRect">
            <a:avLst>
              <a:gd name="adj" fmla="val 10870"/>
            </a:avLst>
          </a:prstGeom>
          <a:solidFill>
            <a:srgbClr val="294C60"/>
          </a:solidFill>
          <a:ln/>
        </p:spPr>
      </p:sp>
      <p:sp>
        <p:nvSpPr>
          <p:cNvPr id="6" name="Text 3"/>
          <p:cNvSpPr/>
          <p:nvPr/>
        </p:nvSpPr>
        <p:spPr>
          <a:xfrm>
            <a:off x="4937760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$XX,XXX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0" y="164592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year-to-date — replace with treasurer's figures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09160" y="2578608"/>
            <a:ext cx="3886200" cy="841248"/>
          </a:xfrm>
          <a:prstGeom prst="roundRect">
            <a:avLst>
              <a:gd name="adj" fmla="val 10870"/>
            </a:avLst>
          </a:prstGeom>
          <a:solidFill>
            <a:srgbClr val="294C60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26700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$X,XXX / mo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0" y="267004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operating cost to keep every bed available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3602736"/>
            <a:ext cx="3886200" cy="841248"/>
          </a:xfrm>
          <a:prstGeom prst="roundRect">
            <a:avLst>
              <a:gd name="adj" fmla="val 10870"/>
            </a:avLst>
          </a:prstGeom>
          <a:solidFill>
            <a:srgbClr val="294C60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369417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$XXX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83680" y="369417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resident, per month of structured care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8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i="1" dirty="0">
                <a:solidFill>
                  <a:srgbClr val="1C3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Devon made huge progress in the month he was with us. He came from living in a tent. By the time he left, he was smiling and laughing, working in a field he enjoys, and staying in a stable place.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5" name="Image 0" descr="logo-s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372298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294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DEVON — FIRST GRADUATE, DECEMBER 2022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00200" y="39867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a current resident story each meeting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C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&amp; 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ACTIONS REQUESTED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294C60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28216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C86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1856598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26080" y="16459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[item] — e.g., next-quarter budget or facility improvement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294C60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752344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5C9EA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2880726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700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26080" y="26700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feedback on [policy/SOP] before the next meeting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602736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294C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77647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294C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3904854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69417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69417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one potential partner, donor, or volunteer this quarter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HAVEN HOUSE  ·  BOARD PRESENTATION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8138160" y="47960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E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3200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9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FHH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C86B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8522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spc="100" kern="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GOD,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spc="100" kern="0" dirty="0">
                <a:solidFill>
                  <a:srgbClr val="C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DO MORE.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474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4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service to the men of St. Charles County.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B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636-577-5876  ·  FAITH.HAVEN.HOUSE@GMAIL.COM  ·  7338 MEXICO ROAD, SAINT PETERS, 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Faith Haven House — Board Presentation Template (Cornerstone)</dc:title>
  <dc:subject>PptxGenJS Presentation</dc:subject>
  <dc:creator>Faith Haven House</dc:creator>
  <cp:lastModifiedBy>Faith Haven House</cp:lastModifiedBy>
  <cp:revision>1</cp:revision>
  <dcterms:created xsi:type="dcterms:W3CDTF">2026-07-09T19:56:21Z</dcterms:created>
  <dcterms:modified xsi:type="dcterms:W3CDTF">2026-07-09T19:56:21Z</dcterms:modified>
</cp:coreProperties>
</file>