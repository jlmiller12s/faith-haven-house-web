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Donations &amp; Grants</c:v>
                </c:pt>
              </c:strCache>
            </c:strRef>
          </c:tx>
          <c:spPr>
            <a:solidFill>
              <a:srgbClr val="5C9E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18500</c:v>
                </c:pt>
                <c:pt idx="1">
                  <c:v>22300</c:v>
                </c:pt>
                <c:pt idx="2">
                  <c:v>19800</c:v>
                </c:pt>
                <c:pt idx="3">
                  <c:v>31200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Costs</c:v>
                </c:pt>
              </c:strCache>
            </c:strRef>
          </c:tx>
          <c:spPr>
            <a:solidFill>
              <a:srgbClr val="C8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14200</c:v>
                </c:pt>
                <c:pt idx="1">
                  <c:v>15100</c:v>
                </c:pt>
                <c:pt idx="2">
                  <c:v>15800</c:v>
                </c:pt>
                <c:pt idx="3">
                  <c:v>16400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DE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734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011680"/>
            <a:ext cx="5943600" cy="594360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566160"/>
            <a:ext cx="3108960" cy="3108960"/>
          </a:xfrm>
          <a:prstGeom prst="ellipse">
            <a:avLst/>
          </a:prstGeom>
          <a:solidFill>
            <a:srgbClr val="5C9EAD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03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logo-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32765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713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B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Sanctuary to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Lives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66928" y="34015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4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call answered. Every bed filled.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OF DIRECTORS MEETING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[Month DD, YYYY]  ·  Saint Peters, 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item with your own topics. Keep to five or fewer so the board can follow the arc of the meeting.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914400" cy="914400"/>
          </a:xfrm>
          <a:prstGeom prst="ellipse">
            <a:avLst/>
          </a:prstGeom>
          <a:solidFill>
            <a:srgbClr val="DCF0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538728"/>
            <a:ext cx="420624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77640" y="141732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0" y="1527048"/>
            <a:ext cx="347472" cy="347472"/>
          </a:xfrm>
          <a:prstGeom prst="ellipse">
            <a:avLst/>
          </a:prstGeom>
          <a:solidFill>
            <a:srgbClr val="5C9EA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617" y="1620865"/>
            <a:ext cx="159837" cy="1598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0288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Ministry Update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90288" y="17190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served, graduations, stories of restoration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977640" y="2093976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14800" y="2203704"/>
            <a:ext cx="347472" cy="347472"/>
          </a:xfrm>
          <a:prstGeom prst="ellipse">
            <a:avLst/>
          </a:prstGeom>
          <a:solidFill>
            <a:srgbClr val="294C6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617" y="2297521"/>
            <a:ext cx="159837" cy="1598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0288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Performance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90288" y="23957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metrics against our 36-day housing goal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977640" y="2770632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114800" y="2880360"/>
            <a:ext cx="347472" cy="347472"/>
          </a:xfrm>
          <a:prstGeom prst="ellipse">
            <a:avLst/>
          </a:prstGeom>
          <a:solidFill>
            <a:srgbClr val="C86B4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617" y="2974177"/>
            <a:ext cx="159837" cy="1598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90288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90288" y="30723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Donations, grants, and operating costs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977640" y="3447288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114800" y="3557016"/>
            <a:ext cx="347472" cy="347472"/>
          </a:xfrm>
          <a:prstGeom prst="ellipse">
            <a:avLst/>
          </a:prstGeom>
          <a:solidFill>
            <a:srgbClr val="5C9EA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617" y="3650833"/>
            <a:ext cx="159837" cy="15983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90288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&amp; Partner Network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90288" y="3749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coverage, meal train, mentorship pairings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977640" y="4123944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114800" y="4233672"/>
            <a:ext cx="347472" cy="347472"/>
          </a:xfrm>
          <a:prstGeom prst="ellipse">
            <a:avLst/>
          </a:prstGeom>
          <a:solidFill>
            <a:srgbClr val="294C60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8617" y="4327489"/>
            <a:ext cx="159837" cy="15983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90288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Next Steps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90288" y="44256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required and action items for the quarter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017520"/>
            <a:ext cx="4206240" cy="4206240"/>
          </a:xfrm>
          <a:prstGeom prst="ellipse">
            <a:avLst/>
          </a:prstGeom>
          <a:solidFill>
            <a:srgbClr val="B8D8E8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294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DIVIDER — DUPLICATE FOR EACH SECTION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Update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9E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“Blessed is the one who perseveres under trial…” — James 1:12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WE SERVE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Bridge, Not a Handout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Haven House is the only shelter dedicated to single men in a county of 400,000 residents. Most of the men we serve were one crisis away — one illness, one job loss, one family tragedy — from losing their shelter.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immediate lodging alongside the accountability, mentorship, and life skills coaching needed to reach self-sufficiency and permanent housing.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83480" y="1371600"/>
            <a:ext cx="361188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66360" y="1609344"/>
            <a:ext cx="457200" cy="457200"/>
          </a:xfrm>
          <a:prstGeom prst="ellipse">
            <a:avLst/>
          </a:prstGeom>
          <a:solidFill>
            <a:srgbClr val="5C9EA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804" y="1732788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79008" y="14996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4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Food &amp; Shelter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79008" y="17739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bed, nightly meal train, structured drug-free sanctuary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83480" y="2487168"/>
            <a:ext cx="361188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66360" y="2724912"/>
            <a:ext cx="457200" cy="457200"/>
          </a:xfrm>
          <a:prstGeom prst="ellipse">
            <a:avLst/>
          </a:prstGeom>
          <a:solidFill>
            <a:srgbClr val="C86B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804" y="2848356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79008" y="26151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4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Support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79008" y="28895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Mentors, life skills coaching, daytime monitor presence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83480" y="3602736"/>
            <a:ext cx="361188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66360" y="3840480"/>
            <a:ext cx="457200" cy="457200"/>
          </a:xfrm>
          <a:prstGeom prst="ellipse">
            <a:avLst/>
          </a:prstGeom>
          <a:solidFill>
            <a:srgbClr val="294C6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804" y="396392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79008" y="3730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4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Independence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779008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housing, employment, sustainable budget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MEASURABLE RECOVERY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Transition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5C9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7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TO HOUSING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stay before residents secure employment and transition to permanent housing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8288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52044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7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&amp; PRESENCE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daytime monitor coverage maintaining a hospitality-focused sanctuary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8288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7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UNIFIED GOAL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individualized rebuilding process guiding every resident to stable living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RECOVERY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5-Stage Rebuilding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30552"/>
            <a:ext cx="566928" cy="566928"/>
          </a:xfrm>
          <a:prstGeom prst="ellipse">
            <a:avLst/>
          </a:prstGeom>
          <a:solidFill>
            <a:srgbClr val="5C9EA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911" y="228362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346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30632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&amp;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993392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231136" y="187452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88336" y="2130552"/>
            <a:ext cx="566928" cy="566928"/>
          </a:xfrm>
          <a:prstGeom prst="ellipse">
            <a:avLst/>
          </a:prstGeom>
          <a:solidFill>
            <a:srgbClr val="5C9EA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07" y="228362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31136" y="28346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304288" y="30632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Bed &amp;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Train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675888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913632" y="187452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70832" y="2130552"/>
            <a:ext cx="566928" cy="566928"/>
          </a:xfrm>
          <a:prstGeom prst="ellipse">
            <a:avLst/>
          </a:prstGeom>
          <a:solidFill>
            <a:srgbClr val="294C6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03" y="228362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28346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986784" y="30632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358384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596128" y="187452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53328" y="2130552"/>
            <a:ext cx="566928" cy="566928"/>
          </a:xfrm>
          <a:prstGeom prst="ellipse">
            <a:avLst/>
          </a:prstGeom>
          <a:solidFill>
            <a:srgbClr val="C86B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399" y="2283623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96128" y="28346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5669280" y="30632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&amp;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040880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278624" y="187452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C3444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35824" y="2130552"/>
            <a:ext cx="566928" cy="566928"/>
          </a:xfrm>
          <a:prstGeom prst="ellipse">
            <a:avLst/>
          </a:prstGeom>
          <a:solidFill>
            <a:srgbClr val="A9533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895" y="2283623"/>
            <a:ext cx="260787" cy="2607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78624" y="28346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05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7351776" y="30632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C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stage titles or descriptions as the program evolves — the flow reads left to right, intake to independence.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REPORT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&amp; Operating Costs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4630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DCF0F7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4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[Sample data]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7220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real quarterly figures from the treasurer's report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89320" y="251460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DCF0F7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4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$XX,XXX raised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72200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giving across donations, grants, and sponsors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35661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DCF0F7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4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$XXX / resident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7220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cost of care per man served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4C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377440"/>
            <a:ext cx="5120640" cy="5120640"/>
          </a:xfrm>
          <a:prstGeom prst="ellipse">
            <a:avLst/>
          </a:prstGeom>
          <a:solidFill>
            <a:srgbClr val="1C3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3716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F8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36 days that he was here, Eric was able to obtain a full-time job. He moved into permanent housing through the First Step Back Home program. With God, we can do more!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66928" y="3749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logo-s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7" y="3819449"/>
            <a:ext cx="362102" cy="3621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B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ERIC — GRADUATE, JANUARY 2023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280160" y="4069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a current resident story each meeting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C9E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THE SERVANT LEADERS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&amp; Partner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" cy="530352"/>
          </a:xfrm>
          <a:prstGeom prst="ellipse">
            <a:avLst/>
          </a:prstGeom>
          <a:solidFill>
            <a:srgbClr val="294C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275" y="1606235"/>
            <a:ext cx="243962" cy="243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447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House Monitor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staff presence — safety, structure, and hospitality during day hours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221992"/>
            <a:ext cx="530352" cy="530352"/>
          </a:xfrm>
          <a:prstGeom prst="ellipse">
            <a:avLst/>
          </a:prstGeom>
          <a:solidFill>
            <a:srgbClr val="C86B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75" y="2365187"/>
            <a:ext cx="243962" cy="2439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2037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Train Delivery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2496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volunteers supply nightly hot meals to residents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2980944"/>
            <a:ext cx="530352" cy="530352"/>
          </a:xfrm>
          <a:prstGeom prst="ellipse">
            <a:avLst/>
          </a:prstGeom>
          <a:solidFill>
            <a:srgbClr val="5C9EA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3124139"/>
            <a:ext cx="243962" cy="2439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9626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Skills Coach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resumes, computer literacy, and job interview preparation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739896"/>
            <a:ext cx="530352" cy="530352"/>
          </a:xfrm>
          <a:prstGeom prst="ellipse">
            <a:avLst/>
          </a:prstGeom>
          <a:solidFill>
            <a:srgbClr val="A9533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5" y="3883091"/>
            <a:ext cx="243962" cy="2439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7216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Mentor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40142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one-on-one accountability, encouragement, and spiritual counsel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560320"/>
            <a:ext cx="5669280" cy="566928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3" name="Shape 1"/>
          <p:cNvSpPr/>
          <p:nvPr/>
        </p:nvSpPr>
        <p:spPr>
          <a:xfrm>
            <a:off x="4224528" y="777240"/>
            <a:ext cx="694944" cy="694944"/>
          </a:xfrm>
          <a:prstGeom prst="ellipse">
            <a:avLst/>
          </a:prstGeom>
          <a:solidFill>
            <a:srgbClr val="C86B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2163" y="964875"/>
            <a:ext cx="319674" cy="3196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God, We Can Do More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463040" y="2606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4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gift goes directly toward the empowerment, facilitation, and stable transition of every resident.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3749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spc="150" kern="0" dirty="0">
                <a:solidFill>
                  <a:srgbClr val="B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636-577-5876   ·   faith.haven.house@gmail.com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spc="150" kern="0" dirty="0">
                <a:solidFill>
                  <a:srgbClr val="B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7338 Mexico Road, Saint Peters, MO 63376   ·   501(c)(3) Non-Profit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Faith Haven House — Board Presentation Template (Sanctuary)</dc:title>
  <dc:subject>PptxGenJS Presentation</dc:subject>
  <dc:creator>Faith Haven House</dc:creator>
  <cp:lastModifiedBy>Faith Haven House</cp:lastModifiedBy>
  <cp:revision>1</cp:revision>
  <dcterms:created xsi:type="dcterms:W3CDTF">2026-07-09T19:56:20Z</dcterms:created>
  <dcterms:modified xsi:type="dcterms:W3CDTF">2026-07-09T19:56:20Z</dcterms:modified>
</cp:coreProperties>
</file>